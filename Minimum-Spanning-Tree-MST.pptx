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embeddedFontLst>
    <p:embeddedFont>
      <p:font typeface="Open Sans" panose="020B0606030504020204"/>
      <p:regular r:id="rId16"/>
      <p:bold r:id="rId17"/>
      <p:italic r:id="rId18"/>
      <p:boldItalic r:id="rId19"/>
    </p:embeddedFont>
    <p:embeddedFont>
      <p:font typeface="Calibri" panose="020F0502020204030204"/>
      <p:regular r:id="rId20"/>
      <p:bold r:id="rId21"/>
      <p:italic r:id="rId22"/>
      <p:boldItalic r:id="rId23"/>
    </p:embeddedFont>
    <p:embeddedFont>
      <p:font typeface="Book Antiqua" panose="02040602050305030304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Open Sans" panose="020B0606030504020204" pitchFamily="34" charset="-122"/>
      <p:regular r:id="rId32"/>
    </p:embeddedFont>
    <p:embeddedFont>
      <p:font typeface="Open Sans" panose="020B0606030504020204" pitchFamily="34" charset="-12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8.fntdata"/><Relationship Id="rId32" Type="http://schemas.openxmlformats.org/officeDocument/2006/relationships/font" Target="fonts/font17.fntdata"/><Relationship Id="rId31" Type="http://schemas.openxmlformats.org/officeDocument/2006/relationships/font" Target="fonts/font16.fntdata"/><Relationship Id="rId30" Type="http://schemas.openxmlformats.org/officeDocument/2006/relationships/font" Target="fonts/font15.fntdata"/><Relationship Id="rId3" Type="http://schemas.openxmlformats.org/officeDocument/2006/relationships/slide" Target="slides/slide1.xml"/><Relationship Id="rId29" Type="http://schemas.openxmlformats.org/officeDocument/2006/relationships/font" Target="fonts/font14.fntdata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AC166-4F33-48F5-BB67-7F9CAAA5C321}" type="datetimeFigureOut">
              <a:rPr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FDBC0-B8AB-4B17-BBA5-A487AFF33883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92655"/>
            <a:ext cx="8340192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GUI Application for Minimum Spanning Tree (MST)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123577"/>
            <a:ext cx="7830741" cy="12613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en-US" sz="2800" b="1" dirty="0">
                <a:solidFill>
                  <a:schemeClr val="accent1">
                    <a:lumMod val="76000"/>
                  </a:schemeClr>
                </a:solidFill>
                <a:latin typeface="Times New Roman" panose="02020603050405020304"/>
                <a:ea typeface="Open Sans" panose="020B0606030504020204"/>
                <a:cs typeface="Times New Roman" panose="02020603050405020304"/>
              </a:rPr>
              <a:t>Course: Design and Analysis of Algorithm (CT-363)</a:t>
            </a:r>
            <a:endParaRPr lang="en-US" sz="2800" b="1">
              <a:solidFill>
                <a:schemeClr val="accent1">
                  <a:lumMod val="76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850"/>
              </a:lnSpc>
            </a:pPr>
            <a:endParaRPr lang="en-US" sz="2400" b="1" dirty="0">
              <a:solidFill>
                <a:schemeClr val="accent1">
                  <a:lumMod val="76000"/>
                </a:schemeClr>
              </a:solidFill>
              <a:latin typeface="Open Sans" panose="020B0606030504020204"/>
              <a:ea typeface="Open Sans" panose="020B0606030504020204"/>
              <a:cs typeface="Open Sans" panose="020B0606030504020204"/>
            </a:endParaRPr>
          </a:p>
          <a:p>
            <a:pPr>
              <a:lnSpc>
                <a:spcPts val="2850"/>
              </a:lnSpc>
            </a:pPr>
            <a:r>
              <a:rPr lang="en-US" sz="1750" b="1" dirty="0">
                <a:solidFill>
                  <a:schemeClr val="tx1">
                    <a:lumMod val="76000"/>
                    <a:lumOff val="24000"/>
                  </a:schemeClr>
                </a:solidFill>
                <a:latin typeface="Open Sans" panose="020B0606030504020204"/>
                <a:ea typeface="Open Sans" panose="020B0606030504020204"/>
                <a:cs typeface="Open Sans" panose="020B0606030504020204"/>
              </a:rPr>
              <a:t>Presented by:</a:t>
            </a:r>
            <a:endParaRPr lang="en-US" sz="2800" b="1" dirty="0">
              <a:solidFill>
                <a:schemeClr val="tx1">
                  <a:lumMod val="76000"/>
                  <a:lumOff val="24000"/>
                </a:schemeClr>
              </a:solidFill>
              <a:latin typeface="Book Antiqua" panose="02040602050305030304"/>
              <a:ea typeface="Open Sans" panose="020B0606030504020204"/>
              <a:cs typeface="Open Sans" panose="020B0606030504020204"/>
            </a:endParaRPr>
          </a:p>
          <a:p>
            <a:pPr>
              <a:lnSpc>
                <a:spcPts val="2850"/>
              </a:lnSpc>
            </a:pPr>
            <a:r>
              <a:rPr lang="en-US" sz="28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Book Antiqua" panose="02040602050305030304"/>
                <a:ea typeface="Open Sans" panose="020B0606030504020204"/>
                <a:cs typeface="Open Sans" panose="020B0606030504020204"/>
              </a:rPr>
              <a:t>Muhamad Hamza Khan (DT-48)</a:t>
            </a:r>
            <a:endParaRPr lang="en-US" sz="2800" b="1" dirty="0">
              <a:solidFill>
                <a:schemeClr val="tx1">
                  <a:lumMod val="76000"/>
                  <a:lumOff val="24000"/>
                </a:schemeClr>
              </a:solidFill>
              <a:latin typeface="Book Antiqua" panose="02040602050305030304"/>
              <a:ea typeface="Open Sans" panose="020B0606030504020204"/>
              <a:cs typeface="Open Sans" panose="020B060603050402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70040" y="5640110"/>
            <a:ext cx="2942272" cy="396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b="1" dirty="0">
              <a:solidFill>
                <a:srgbClr val="333F7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86508"/>
            <a:ext cx="600717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Abstract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35448"/>
            <a:ext cx="7556421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69882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Python GUI app leveraging Prim’s and Kruskal’s algorithms.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3694033"/>
            <a:ext cx="7556421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4624" y="3928467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Input graphs and compute MSTs with visual output via Matplotlib.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752618"/>
            <a:ext cx="7556421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4987052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CSV import/export for easy graph data management.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811203"/>
            <a:ext cx="7556421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6045637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Designed as an interactive educational tool for algorithm learning.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30060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Objectives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79000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90373" y="2479000"/>
            <a:ext cx="346138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Intuitive GUI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2969419"/>
            <a:ext cx="704623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Enable graph input and editing with ease.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3559135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0534" y="3559135"/>
            <a:ext cx="55759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Dual Algorithm Implementation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4049554"/>
            <a:ext cx="67060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Integrate Prim’s and Kruskal’s for MST computation.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4639270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70815" y="4639270"/>
            <a:ext cx="457878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Side-by-Side Visualization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5129689"/>
            <a:ext cx="636579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Compare MST outputs visually.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300913" y="5719405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1095" y="5719405"/>
            <a:ext cx="338149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CSV Import/Export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811095" y="6209824"/>
            <a:ext cx="60255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Import graph data and save results efficiently.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93063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Applied Methodology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507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8860" y="2493288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52864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Graph Input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019068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Manually add vertices and edges or import CSV files.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8355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8860" y="3878104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3913465"/>
            <a:ext cx="326362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MST Computation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4403884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Run Prim’s and Kruskal’s algorithms to compute MSTs.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22041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8860" y="5262920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29828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788700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Use Matplotlib for clear, comparative MST display.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660523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8860" y="6647736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1530906" y="668309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Result Export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530906" y="7173516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Export MST images and reset applications as required.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87385"/>
            <a:ext cx="8151971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Features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15621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Dynamic graph creation and edge list display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57819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Dual MST computations: Prim’s and Kruskal’s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015621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Visual comparison of MSTs with weight display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457819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CSV import/export and MST image saving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900017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Error handling and reset functionality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775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638" y="3144560"/>
            <a:ext cx="9751338" cy="644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Prim's vs Kruskal's Algorithms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1638" y="4098131"/>
            <a:ext cx="13187124" cy="3570684"/>
          </a:xfrm>
          <a:prstGeom prst="roundRect">
            <a:avLst>
              <a:gd name="adj" fmla="val 242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9258" y="4105751"/>
            <a:ext cx="13171884" cy="5925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35355" y="4237077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Kruskal’s Algorithm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25107" y="4237077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Prim’s Algorithm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9258" y="4698325"/>
            <a:ext cx="13171884" cy="5925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935355" y="4829651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Ideal for sparse graphs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25107" y="4829651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Best for dense graphs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9258" y="5290899"/>
            <a:ext cx="13171884" cy="5925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935355" y="5422225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Sorts edges globally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25107" y="5422225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No sorting required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9258" y="5883473"/>
            <a:ext cx="13171884" cy="5925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935355" y="6014799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Works with disconnected graphs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25107" y="6014799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Needs connected graph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9258" y="6476048"/>
            <a:ext cx="13171884" cy="5925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935355" y="6607373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Uses Union-Find structure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525107" y="6607373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Uses Min-Heap with adjacency list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29258" y="7068622"/>
            <a:ext cx="13171884" cy="5925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935355" y="7199948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Time complexity: O(E log E)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25107" y="7199948"/>
            <a:ext cx="6169938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Time complexity: O(E log V)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232178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Results &amp; Observations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989898"/>
            <a:ext cx="6156599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224332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Correct MSTs computed by both algorithms consistently.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116215"/>
            <a:ext cx="6156599" cy="775327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224" y="4282916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Visualization aids clear structural comparison.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89" y="5107067"/>
            <a:ext cx="6156599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8224" y="5194747"/>
            <a:ext cx="5800620" cy="5096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Exporting MST images facilitates documentation and study.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165652"/>
            <a:ext cx="6156599" cy="831771"/>
          </a:xfrm>
          <a:prstGeom prst="roundRect">
            <a:avLst>
              <a:gd name="adj" fmla="val 114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6400086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GUI boosts conceptual clarity for students and instructors.</a:t>
            </a:r>
            <a:endParaRPr lang="en-US" sz="1750" dirty="0"/>
          </a:p>
        </p:txBody>
      </p:sp>
      <p:pic>
        <p:nvPicPr>
          <p:cNvPr id="14" name="Picture 13" descr="A screenshot of a graph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7033" y="2650419"/>
            <a:ext cx="7464778" cy="43511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7108"/>
            <a:ext cx="855118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Real-World Applications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89515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583305"/>
            <a:ext cx="3048000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Computer Networking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2789515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25278" y="3583305"/>
            <a:ext cx="3048119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Transportation Planning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2789515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56884" y="3583305"/>
            <a:ext cx="3048119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Image Segmentation</a:t>
            </a:r>
            <a:endParaRPr lang="en-US" sz="2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2789515"/>
            <a:ext cx="566976" cy="56697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788491" y="3583305"/>
            <a:ext cx="3048119" cy="1062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Machine Learning Clustering</a:t>
            </a:r>
            <a:endParaRPr lang="en-US" sz="2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099923"/>
            <a:ext cx="566976" cy="56697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93790" y="5893713"/>
            <a:ext cx="3048000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Circuit Layout Optimization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3956" y="3886200"/>
            <a:ext cx="851182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6000" b="1" dirty="0">
                <a:solidFill>
                  <a:srgbClr val="333F70"/>
                </a:solidFill>
                <a:latin typeface="Unbounded Bold"/>
              </a:rPr>
              <a:t>        </a:t>
            </a:r>
            <a:r>
              <a:rPr lang="en-US" sz="6000" b="1" dirty="0">
                <a:solidFill>
                  <a:srgbClr val="333F70"/>
                </a:solidFill>
                <a:latin typeface="Franklin Gothic"/>
              </a:rPr>
              <a:t> THANK YOU !</a:t>
            </a:r>
            <a:endParaRPr lang="en-US" sz="6000" b="1" dirty="0">
              <a:latin typeface="Frankli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1882</Words>
  <Application>WPS Presentation</Application>
  <PresentationFormat>Custom</PresentationFormat>
  <Paragraphs>123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3" baseType="lpstr">
      <vt:lpstr>Arial</vt:lpstr>
      <vt:lpstr>SimSun</vt:lpstr>
      <vt:lpstr>Wingdings</vt:lpstr>
      <vt:lpstr>Unbounded Bold</vt:lpstr>
      <vt:lpstr>Times New Roman</vt:lpstr>
      <vt:lpstr>Open Sans</vt:lpstr>
      <vt:lpstr>Calibri</vt:lpstr>
      <vt:lpstr>Book Antiqua</vt:lpstr>
      <vt:lpstr>Open Sans Bold</vt:lpstr>
      <vt:lpstr>Unbounded Bold</vt:lpstr>
      <vt:lpstr>Segoe Print</vt:lpstr>
      <vt:lpstr>Unbounded Bold</vt:lpstr>
      <vt:lpstr>Open Sans</vt:lpstr>
      <vt:lpstr>Open Sans</vt:lpstr>
      <vt:lpstr>Open Sans</vt:lpstr>
      <vt:lpstr>Unbounded Bold</vt:lpstr>
      <vt:lpstr>Franklin Gothic</vt:lpstr>
      <vt:lpstr>Times New Roman</vt:lpstr>
      <vt:lpstr>Microsoft YaHei</vt:lpstr>
      <vt:lpstr>Arial Unicode MS</vt:lpstr>
      <vt:lpstr>Calibri</vt:lpstr>
      <vt:lpstr>MingLiU-ExtB</vt:lpstr>
      <vt:lpstr>Franklin Gothic Medium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DANISH LAPTOP</cp:lastModifiedBy>
  <cp:revision>126</cp:revision>
  <dcterms:created xsi:type="dcterms:W3CDTF">2025-05-04T12:40:00Z</dcterms:created>
  <dcterms:modified xsi:type="dcterms:W3CDTF">2025-12-25T08:50:42Z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44609832AD004251BE0670534158A2EF_12</vt:lpwstr>
  </property>
  <property fmtid="{D5CDD505-2E9C-101B-9397-08002B2CF9AE}" pid="3" name="KSOProductBuildVer">
    <vt:lpwstr>1033-12.2.0.23196</vt:lpwstr>
  </property>
</Properties>
</file>